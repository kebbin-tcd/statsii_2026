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Economica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Economica-bold.fntdata"/><Relationship Id="rId14" Type="http://schemas.openxmlformats.org/officeDocument/2006/relationships/font" Target="fonts/Economica-regular.fntdata"/><Relationship Id="rId17" Type="http://schemas.openxmlformats.org/officeDocument/2006/relationships/font" Target="fonts/Economica-boldItalic.fntdata"/><Relationship Id="rId16" Type="http://schemas.openxmlformats.org/officeDocument/2006/relationships/font" Target="fonts/Economica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34dd819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34dd819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4dd819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4dd819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bf2138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3bf2138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4dd8191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34dd8191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3bf21382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3bf21382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34dd8191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34dd8191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3bf21382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3bf21382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ataverse.harvard.edu/dataset.xhtml?persistentId=doi:10.7910/DVN/FIINC8" TargetMode="External"/><Relationship Id="rId4" Type="http://schemas.openxmlformats.org/officeDocument/2006/relationships/hyperlink" Target="https://www.cambridge.org/core/services/aop-cambridge-core/content/view/9365B7A1D39A5548351ADEC6E4F09181/S0020818325100957a.pdf/pushing-back-or-backing-down-evidence-on-donor-responses-to-restrictive-ngo-legislation.pdf#page=13.18" TargetMode="External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275250" y="1056900"/>
            <a:ext cx="8593500" cy="22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</a:rPr>
              <a:t>Replication Project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</a:rPr>
              <a:t>NGO Aid, Pushing Back or Backing Down?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Original authors:</a:t>
            </a:r>
            <a:r>
              <a:rPr lang="en-GB" sz="1100">
                <a:solidFill>
                  <a:schemeClr val="dk1"/>
                </a:solidFill>
              </a:rPr>
              <a:t> Right, L., Springman, J. and Wibbels, E. (2025)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Nour Kebbi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Trinity College Dublin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Applied Statistical Methods II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61075" y="22227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Explaining the Original Study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261075" y="79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Original Research Question &amp; Argument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</a:rPr>
              <a:t>Do international donors "push back" (withdraw aid) or "back down" (maintain aid) when recipient countries pass restrictive NGO laws?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Donor response depends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DOR (Relationship Orientation):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Does the donor prioritize democracy aid in that specific country?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DOD (Donor Orientation):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Is the donor globally committed to democracy?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Data:</a:t>
            </a:r>
            <a:r>
              <a:rPr lang="en-GB" sz="1100">
                <a:solidFill>
                  <a:schemeClr val="dk1"/>
                </a:solidFill>
              </a:rPr>
              <a:t> Dyadic dataset (Donor-Recipient pairs) excluding the US and small aid flows (&lt;$2M).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635" y="1613147"/>
            <a:ext cx="3670375" cy="125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29315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Original Study: Model 1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220575" y="1098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Model:</a:t>
            </a:r>
            <a:r>
              <a:rPr lang="en-GB" sz="1100">
                <a:solidFill>
                  <a:schemeClr val="dk1"/>
                </a:solidFill>
              </a:rPr>
              <a:t> Linear model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Reason: </a:t>
            </a:r>
            <a:r>
              <a:rPr lang="en-GB" sz="1100">
                <a:solidFill>
                  <a:schemeClr val="dk1"/>
                </a:solidFill>
              </a:rPr>
              <a:t>estimate the effect of NGO laws on aid flows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*</a:t>
            </a:r>
            <a:r>
              <a:rPr lang="en-GB" sz="900">
                <a:solidFill>
                  <a:schemeClr val="dk1"/>
                </a:solidFill>
              </a:rPr>
              <a:t>Dependent variables are logged using a log y  1  transformation to handle 0$ aid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*postpassage is a dummy variable of whether the law was passed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*alpha: controls for donor recipient specific factors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*year fixed effects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Results: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coefficients are statistically insignificant.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Hence, this means that on average,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effect of NGO law has no impact on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volume of aid a country receives.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Next step</a:t>
            </a:r>
            <a:r>
              <a:rPr b="1"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=&gt; the author implemented an </a:t>
            </a:r>
            <a:r>
              <a:rPr b="1" i="1" lang="en-GB" sz="1100">
                <a:solidFill>
                  <a:schemeClr val="dk1"/>
                </a:solidFill>
              </a:rPr>
              <a:t>Interaction model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60516" l="20668" r="26728" t="0"/>
          <a:stretch/>
        </p:blipFill>
        <p:spPr>
          <a:xfrm>
            <a:off x="4634326" y="1351850"/>
            <a:ext cx="39354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1575" y="2594992"/>
            <a:ext cx="5138999" cy="139425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4060125" y="3736650"/>
            <a:ext cx="5083800" cy="110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9315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Original Study: Model 2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129450" y="1098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Model:</a:t>
            </a:r>
            <a:r>
              <a:rPr lang="en-GB" sz="1100">
                <a:solidFill>
                  <a:schemeClr val="dk1"/>
                </a:solidFill>
              </a:rPr>
              <a:t> Interactive model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Reason: </a:t>
            </a:r>
            <a:r>
              <a:rPr lang="en-GB" sz="1100">
                <a:solidFill>
                  <a:schemeClr val="dk1"/>
                </a:solidFill>
              </a:rPr>
              <a:t>test whether donors’ past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commitment to democracy promotion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conditions the effect of NGO law passage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on aid flow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Results: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&gt; When NGO laws are passed, </a:t>
            </a:r>
            <a:r>
              <a:rPr lang="en-GB" sz="1100"/>
              <a:t>r</a:t>
            </a:r>
            <a:r>
              <a:rPr lang="en-GB" sz="1100">
                <a:solidFill>
                  <a:schemeClr val="dk1"/>
                </a:solidFill>
              </a:rPr>
              <a:t>eductions in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Aid for specific donor types (DOD) happen,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Specifically in democracy aid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&gt; Democracy-focused donors pull-back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300" y="4282876"/>
            <a:ext cx="2934699" cy="10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5625" y="1053000"/>
            <a:ext cx="5805126" cy="3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6621750" y="1255350"/>
            <a:ext cx="2268000" cy="3155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222650" y="1255500"/>
            <a:ext cx="2268000" cy="3155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194125" y="658125"/>
            <a:ext cx="708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7887900" y="658125"/>
            <a:ext cx="708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4101450" y="293150"/>
            <a:ext cx="25104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</a:rPr>
              <a:t>Donor relationship DOR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612975" y="303800"/>
            <a:ext cx="25104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</a:rPr>
              <a:t>Donor orientation DOD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6652125" y="2956500"/>
            <a:ext cx="2187000" cy="1113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941000" y="2420400"/>
            <a:ext cx="739200" cy="1113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325" y="494099"/>
            <a:ext cx="3829650" cy="3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267525" y="21927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contribution: Twist 1</a:t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169375" y="1118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Original study: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Twist: </a:t>
            </a:r>
            <a:r>
              <a:rPr lang="en-GB" sz="1100">
                <a:solidFill>
                  <a:schemeClr val="dk1"/>
                </a:solidFill>
              </a:rPr>
              <a:t>Predicting NGO Restrictions - Reverse Causality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</a:t>
            </a:r>
            <a:r>
              <a:rPr lang="en-GB" sz="1100">
                <a:solidFill>
                  <a:schemeClr val="dk1"/>
                </a:solidFill>
              </a:rPr>
              <a:t>hifting the focus from donor behavior to recipient behavior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Do governments pass laws </a:t>
            </a:r>
            <a:r>
              <a:rPr b="1" i="1" lang="en-GB" sz="1100">
                <a:solidFill>
                  <a:schemeClr val="dk1"/>
                </a:solidFill>
              </a:rPr>
              <a:t>because</a:t>
            </a:r>
            <a:r>
              <a:rPr b="1" lang="en-GB" sz="1100">
                <a:solidFill>
                  <a:schemeClr val="dk1"/>
                </a:solidFill>
              </a:rPr>
              <a:t> aid is already declining?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Method: </a:t>
            </a:r>
            <a:r>
              <a:rPr lang="en-GB" sz="1100">
                <a:solidFill>
                  <a:schemeClr val="dk1"/>
                </a:solidFill>
              </a:rPr>
              <a:t>GLM to calculate probabilities with a binary outcome (NGO law -&gt; 0/1) &amp;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removed first year of data for every country. I used a logit model to predict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probability of an event </a:t>
            </a:r>
            <a:r>
              <a:rPr lang="en-GB" sz="1100">
                <a:solidFill>
                  <a:schemeClr val="dk1"/>
                </a:solidFill>
              </a:rPr>
              <a:t>occurring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Result: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Civil war is the strongest predictor in the model, nearly doubling the log-odds of passing this law.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5">
            <a:alphaModFix/>
          </a:blip>
          <a:srcRect b="10209" l="3261" r="13544" t="0"/>
          <a:stretch/>
        </p:blipFill>
        <p:spPr>
          <a:xfrm>
            <a:off x="441700" y="3134950"/>
            <a:ext cx="3332476" cy="3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2252724" y="1271167"/>
            <a:ext cx="804900" cy="3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1065024" y="1045392"/>
            <a:ext cx="124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NGO Law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138899" y="1045392"/>
            <a:ext cx="1543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Aid Volume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2022052" y="1884918"/>
            <a:ext cx="804900" cy="3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706738" y="1659138"/>
            <a:ext cx="138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</a:rPr>
              <a:t>Aid Volume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2829700" y="1659143"/>
            <a:ext cx="1543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</a:rPr>
              <a:t>NGO Law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283354" y="1168091"/>
            <a:ext cx="667500" cy="16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 rot="-2383891">
            <a:off x="6298074" y="1585069"/>
            <a:ext cx="1099671" cy="3941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180504" y="1772016"/>
            <a:ext cx="1543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8761D"/>
                </a:solidFill>
              </a:rPr>
              <a:t>Statistically significant</a:t>
            </a:r>
            <a:endParaRPr sz="900">
              <a:solidFill>
                <a:srgbClr val="38761D"/>
              </a:solidFill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283354" y="1605216"/>
            <a:ext cx="667500" cy="16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7283354" y="2042341"/>
            <a:ext cx="667500" cy="16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233175" y="21925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contribution: Twist 2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Original Study: </a:t>
            </a:r>
            <a:r>
              <a:rPr lang="en-GB" sz="1100">
                <a:solidFill>
                  <a:schemeClr val="dk1"/>
                </a:solidFill>
              </a:rPr>
              <a:t>studies the fluctuation in amount in USD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Twist: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analyzing</a:t>
            </a:r>
            <a:r>
              <a:rPr lang="en-GB" sz="1100">
                <a:solidFill>
                  <a:schemeClr val="dk1"/>
                </a:solidFill>
              </a:rPr>
              <a:t> binary choice of whether a donor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gives anything at all instead of reductions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Method: </a:t>
            </a:r>
            <a:r>
              <a:rPr lang="en-GB" sz="1100">
                <a:solidFill>
                  <a:schemeClr val="dk1"/>
                </a:solidFill>
              </a:rPr>
              <a:t>GLM to calculate the Odds Ratio to see how much exactly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less likely a country is to receive any any aid after passing a restrictive law.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will provide clear punishment metric that a linear regression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Result:</a:t>
            </a:r>
            <a:r>
              <a:rPr lang="en-GB" sz="1100">
                <a:solidFill>
                  <a:schemeClr val="dk1"/>
                </a:solidFill>
              </a:rPr>
              <a:t> The results show that for countries passing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restrictive NGO law, the odds of receiving aid are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2.47 times higher compared to those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 do not.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25" y="2845852"/>
            <a:ext cx="3052724" cy="4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9250" y="952125"/>
            <a:ext cx="3720926" cy="26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7901752" y="1570540"/>
            <a:ext cx="667500" cy="16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 rot="-2383891">
            <a:off x="6916472" y="1987518"/>
            <a:ext cx="1099671" cy="3941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5877427" y="2215990"/>
            <a:ext cx="1543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8761D"/>
                </a:solidFill>
              </a:rPr>
              <a:t>Contradicting results</a:t>
            </a:r>
            <a:endParaRPr sz="9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takeaways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Twist 1: </a:t>
            </a:r>
            <a:r>
              <a:rPr lang="en-GB" sz="1300">
                <a:solidFill>
                  <a:schemeClr val="dk1"/>
                </a:solidFill>
              </a:rPr>
              <a:t>NGO laws are primarily triggered by factors like Civil War rather than international aid signals.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Twist 2: </a:t>
            </a:r>
            <a:r>
              <a:rPr lang="en-GB" sz="1300">
                <a:solidFill>
                  <a:schemeClr val="dk1"/>
                </a:solidFill>
              </a:rPr>
              <a:t>While donors might reduce the volume of their aid as the original study suggests post law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enforcement, they rarely choose to exit the relationship entirely especially in conflict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zones.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Conclusion: </a:t>
            </a:r>
            <a:r>
              <a:rPr lang="en-GB" sz="1300">
                <a:solidFill>
                  <a:schemeClr val="dk1"/>
                </a:solidFill>
              </a:rPr>
              <a:t>Donors trim budgets to signal disapproval but stay present to address crises or maintain influence.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Bibliography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8181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Right, L., Springman, J. and Wibbels, E. (2025) ‘Pushing Back or Backing Down? Evidence on Donor Responses to Restrictive NGO Legislation’, </a:t>
            </a:r>
            <a:r>
              <a:rPr i="1" lang="en-GB" sz="1200">
                <a:solidFill>
                  <a:srgbClr val="18181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International Organization</a:t>
            </a:r>
            <a:r>
              <a:rPr lang="en-GB" sz="1200">
                <a:solidFill>
                  <a:srgbClr val="18181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79(4), pp. 759–786. doi:10.1017/S0020818325100957.</a:t>
            </a:r>
            <a:endParaRPr sz="1200">
              <a:solidFill>
                <a:srgbClr val="18181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8181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Link for replication files: </a:t>
            </a: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https://dataverse.harvard.edu/dataset.xhtml?persistentId=doi:10.7910/DVN/FIINC8</a:t>
            </a:r>
            <a:endParaRPr sz="1200">
              <a:solidFill>
                <a:srgbClr val="18181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8181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Link for the study: </a:t>
            </a: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https://www.cambridge.org/core/services/aop-cambridge-core/content/view/9365B7A1D39A5548351ADEC6E4F09181/S0020818325100957a.pdf/pushing-back-or-backing-down-evidence-on-donor-responses-to-restrictive-ngo-legislation.pdf#page=13.18</a:t>
            </a:r>
            <a:endParaRPr sz="1200">
              <a:solidFill>
                <a:srgbClr val="18181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181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8181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9300" y="4131001"/>
            <a:ext cx="293469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